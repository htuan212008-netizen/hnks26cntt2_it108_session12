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7132"/>
    <a:srgbClr val="156082"/>
    <a:srgbClr val="196B24"/>
    <a:srgbClr val="0F9ED5"/>
    <a:srgbClr val="041133"/>
    <a:srgbClr val="041134"/>
    <a:srgbClr val="1B26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3752497445855357E-2"/>
          <c:y val="4.3571769366398408E-2"/>
          <c:w val="0.85824254330166116"/>
          <c:h val="0.84277284482472548"/>
        </c:manualLayout>
      </c:layout>
      <c:barChart>
        <c:barDir val="col"/>
        <c:grouping val="clustered"/>
        <c:varyColors val="0"/>
        <c:ser>
          <c:idx val="1"/>
          <c:order val="1"/>
          <c:spPr>
            <a:gradFill flip="none" rotWithShape="1">
              <a:gsLst>
                <a:gs pos="0">
                  <a:schemeClr val="accent2">
                    <a:lumMod val="0"/>
                    <a:lumOff val="100000"/>
                  </a:schemeClr>
                </a:gs>
                <a:gs pos="51000">
                  <a:schemeClr val="accent2">
                    <a:lumMod val="100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Sheet1!$A$2:$A$7</c:f>
              <c:strCache>
                <c:ptCount val="6"/>
                <c:pt idx="0">
                  <c:v>T12/2025</c:v>
                </c:pt>
                <c:pt idx="1">
                  <c:v>T01/2026</c:v>
                </c:pt>
                <c:pt idx="2">
                  <c:v>T02/2026</c:v>
                </c:pt>
                <c:pt idx="3">
                  <c:v>T03/2026</c:v>
                </c:pt>
                <c:pt idx="4">
                  <c:v>T04/2026</c:v>
                </c:pt>
                <c:pt idx="5">
                  <c:v>T05/2026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1.2</c:v>
                </c:pt>
                <c:pt idx="1">
                  <c:v>2.2999999999999998</c:v>
                </c:pt>
                <c:pt idx="2">
                  <c:v>3.8</c:v>
                </c:pt>
                <c:pt idx="3">
                  <c:v>5.4</c:v>
                </c:pt>
                <c:pt idx="4">
                  <c:v>7.1</c:v>
                </c:pt>
                <c:pt idx="5">
                  <c:v>9.1999999999999993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Sheet1!$C$1</c15:sqref>
                        </c15:formulaRef>
                      </c:ext>
                    </c:extLst>
                    <c:strCache>
                      <c:ptCount val="1"/>
                      <c:pt idx="0">
                        <c:v>Đơn vị/người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1-7F0C-4DDC-89B8-E3E8B0D4C3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1"/>
        <c:overlap val="-21"/>
        <c:axId val="1130325311"/>
        <c:axId val="919633551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spPr>
                  <a:gradFill rotWithShape="1">
                    <a:gsLst>
                      <a:gs pos="0">
                        <a:schemeClr val="accent1">
                          <a:satMod val="103000"/>
                          <a:lumMod val="102000"/>
                          <a:tint val="94000"/>
                        </a:schemeClr>
                      </a:gs>
                      <a:gs pos="50000">
                        <a:schemeClr val="accent1">
                          <a:satMod val="110000"/>
                          <a:lumMod val="100000"/>
                          <a:shade val="100000"/>
                        </a:schemeClr>
                      </a:gs>
                      <a:gs pos="100000">
                        <a:schemeClr val="accent1">
                          <a:lumMod val="99000"/>
                          <a:satMod val="120000"/>
                          <a:shade val="78000"/>
                        </a:schemeClr>
                      </a:gs>
                    </a:gsLst>
                    <a:lin ang="5400000" scaled="0"/>
                  </a:gradFill>
                  <a:ln>
                    <a:noFill/>
                  </a:ln>
                  <a:effectLst>
                    <a:outerShdw blurRad="57150" dist="19050" dir="5400000" algn="ctr" rotWithShape="0">
                      <a:srgbClr val="000000">
                        <a:alpha val="63000"/>
                      </a:srgbClr>
                    </a:outerShdw>
                  </a:effectLst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Sheet1!$A$2:$A$7</c15:sqref>
                        </c15:formulaRef>
                      </c:ext>
                    </c:extLst>
                    <c:strCache>
                      <c:ptCount val="6"/>
                      <c:pt idx="0">
                        <c:v>T12/2025</c:v>
                      </c:pt>
                      <c:pt idx="1">
                        <c:v>T01/2026</c:v>
                      </c:pt>
                      <c:pt idx="2">
                        <c:v>T02/2026</c:v>
                      </c:pt>
                      <c:pt idx="3">
                        <c:v>T03/2026</c:v>
                      </c:pt>
                      <c:pt idx="4">
                        <c:v>T04/2026</c:v>
                      </c:pt>
                      <c:pt idx="5">
                        <c:v>T05/2026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Sheet1!$B$2:$B$7</c15:sqref>
                        </c15:formulaRef>
                      </c:ext>
                    </c:extLst>
                    <c:numCache>
                      <c:formatCode>General</c:formatCode>
                      <c:ptCount val="6"/>
                    </c:numCache>
                  </c:numRef>
                </c:val>
                <c:extLst>
                  <c:ext uri="{02D57815-91ED-43cb-92C2-25804820EDAC}">
                    <c15:filteredSeriesTitle>
                      <c15:tx>
                        <c:strRef>
                          <c:extLst>
                            <c:ext uri="{02D57815-91ED-43cb-92C2-25804820EDAC}">
                              <c15:formulaRef>
                                <c15:sqref>Sheet1!$B$1</c15:sqref>
                              </c15:formulaRef>
                            </c:ext>
                          </c:extLst>
                          <c:strCache>
                            <c:ptCount val="1"/>
                            <c:pt idx="0">
                              <c:v>Column1</c:v>
                            </c:pt>
                          </c:strCache>
                        </c:strRef>
                      </c15:tx>
                    </c15:filteredSeriesTitle>
                  </c:ext>
                  <c:ext xmlns:c16="http://schemas.microsoft.com/office/drawing/2014/chart" uri="{C3380CC4-5D6E-409C-BE32-E72D297353CC}">
                    <c16:uniqueId val="{00000000-7F0C-4DDC-89B8-E3E8B0D4C37E}"/>
                  </c:ext>
                </c:extLst>
              </c15:ser>
            </c15:filteredBarSeries>
            <c15:filteredBarSeries>
              <c15:ser>
                <c:idx val="2"/>
                <c:order val="2"/>
                <c:spPr>
                  <a:gradFill rotWithShape="1">
                    <a:gsLst>
                      <a:gs pos="0">
                        <a:schemeClr val="accent3">
                          <a:satMod val="103000"/>
                          <a:lumMod val="102000"/>
                          <a:tint val="94000"/>
                        </a:schemeClr>
                      </a:gs>
                      <a:gs pos="50000">
                        <a:schemeClr val="accent3">
                          <a:satMod val="110000"/>
                          <a:lumMod val="100000"/>
                          <a:shade val="100000"/>
                        </a:schemeClr>
                      </a:gs>
                      <a:gs pos="100000">
                        <a:schemeClr val="accent3">
                          <a:lumMod val="99000"/>
                          <a:satMod val="120000"/>
                          <a:shade val="78000"/>
                        </a:schemeClr>
                      </a:gs>
                    </a:gsLst>
                    <a:lin ang="5400000" scaled="0"/>
                  </a:gradFill>
                  <a:ln>
                    <a:noFill/>
                  </a:ln>
                  <a:effectLst>
                    <a:outerShdw blurRad="57150" dist="19050" dir="5400000" algn="ctr" rotWithShape="0">
                      <a:srgbClr val="000000">
                        <a:alpha val="63000"/>
                      </a:srgbClr>
                    </a:outerShdw>
                  </a:effectLst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Sheet1!$A$2:$A$7</c15:sqref>
                        </c15:formulaRef>
                      </c:ext>
                    </c:extLst>
                    <c:strCache>
                      <c:ptCount val="6"/>
                      <c:pt idx="0">
                        <c:v>T12/2025</c:v>
                      </c:pt>
                      <c:pt idx="1">
                        <c:v>T01/2026</c:v>
                      </c:pt>
                      <c:pt idx="2">
                        <c:v>T02/2026</c:v>
                      </c:pt>
                      <c:pt idx="3">
                        <c:v>T03/2026</c:v>
                      </c:pt>
                      <c:pt idx="4">
                        <c:v>T04/2026</c:v>
                      </c:pt>
                      <c:pt idx="5">
                        <c:v>T05/2026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Sheet1!$D$2:$D$7</c15:sqref>
                        </c15:formulaRef>
                      </c:ext>
                    </c:extLst>
                    <c:numCache>
                      <c:formatCode>General</c:formatCode>
                      <c:ptCount val="6"/>
                    </c:numCache>
                  </c:numRef>
                </c:val>
                <c:extLst xmlns:c15="http://schemas.microsoft.com/office/drawing/2012/chart">
                  <c:ext xmlns:c15="http://schemas.microsoft.com/office/drawing/2012/chart" uri="{02D57815-91ED-43cb-92C2-25804820EDAC}">
                    <c15:filteredSeriesTitle>
                      <c15:tx>
                        <c:strRef>
                          <c:extLst>
                            <c:ext uri="{02D57815-91ED-43cb-92C2-25804820EDAC}">
                              <c15:formulaRef>
                                <c15:sqref>Sheet1!$D$1</c15:sqref>
                              </c15:formulaRef>
                            </c:ext>
                          </c:extLst>
                          <c:strCache>
                            <c:ptCount val="1"/>
                            <c:pt idx="0">
                              <c:v>Column3</c:v>
                            </c:pt>
                          </c:strCache>
                        </c:strRef>
                      </c15:tx>
                    </c15:filteredSeriesTitle>
                  </c:ext>
                  <c:ext xmlns:c16="http://schemas.microsoft.com/office/drawing/2014/chart" uri="{C3380CC4-5D6E-409C-BE32-E72D297353CC}">
                    <c16:uniqueId val="{00000002-7F0C-4DDC-89B8-E3E8B0D4C37E}"/>
                  </c:ext>
                </c:extLst>
              </c15:ser>
            </c15:filteredBarSeries>
          </c:ext>
        </c:extLst>
      </c:barChart>
      <c:catAx>
        <c:axId val="11303253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9633551"/>
        <c:crosses val="autoZero"/>
        <c:auto val="1"/>
        <c:lblAlgn val="ctr"/>
        <c:lblOffset val="100"/>
        <c:noMultiLvlLbl val="0"/>
      </c:catAx>
      <c:valAx>
        <c:axId val="919633551"/>
        <c:scaling>
          <c:orientation val="minMax"/>
          <c:max val="1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0325311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078-4994-9698-41A919DBDF2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078-4994-9698-41A919DBDF2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E19-43F8-9A21-4D6E4F45A43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BE19-43F8-9A21-4D6E4F45A43B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0.27</c:v>
                </c:pt>
                <c:pt idx="1">
                  <c:v>0.36</c:v>
                </c:pt>
                <c:pt idx="2">
                  <c:v>0.16</c:v>
                </c:pt>
                <c:pt idx="3">
                  <c:v>0.21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E19-43F8-9A21-4D6E4F45A4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60"/>
        <c:holeSize val="41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18C15-A7D5-B7A1-DDA9-DD2183015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481BDA-7994-BF98-ADE5-773CAEFC03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E396F-A375-24AC-1325-62E841800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1DC8B-00BD-480B-A4ED-E535B51FF738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1EABE-8E35-CB00-7D41-19D4A7EB8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CFEBA8-C4EC-77C2-4A61-CD7FA2FA1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E3277-B7F1-44FA-9EC0-169C8CEEE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208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D4365-FC91-0C71-93B2-D99B1C913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AC122-2E2D-2BA6-33FC-FBFBAFED7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7C86B3-A30A-19D8-23D4-FA984567A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1DC8B-00BD-480B-A4ED-E535B51FF738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3CC3C-3D5F-1600-E15E-EBC468093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E32034-E8F9-BF1F-A85F-8020E3F2B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E3277-B7F1-44FA-9EC0-169C8CEEE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49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D5C72-0625-559C-96D7-3B97FB5F0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ADC6C1-43F2-D3AE-FDAC-403F18E227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AE3A11-7782-4141-3BC5-4CB763154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1DC8B-00BD-480B-A4ED-E535B51FF738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D9BAA-43D3-AF52-7F4D-522BADC94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3AE9D9-4563-E97B-212D-782196DCE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E3277-B7F1-44FA-9EC0-169C8CEEE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998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F883F-D0BA-ADCD-AB7A-75A318C47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609F0-21BA-A330-E951-B2EA7A7CCE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60C27-7032-01DE-51E4-AE80DEBF89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5DCC1B-6CC7-9882-068D-63D304107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1DC8B-00BD-480B-A4ED-E535B51FF738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C56D4-525A-BCA6-315A-14B494B1D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CC91FB-DAE0-1D5E-66BF-A2453F6D6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E3277-B7F1-44FA-9EC0-169C8CEEE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326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B1379-11F2-AD29-F4B1-2A1E8BDD6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C9793-C09F-BED9-A2C1-9A92AABA8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7D0DA5-959E-88D2-E48B-8512D7599A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BEAFAF-745D-0C97-57CD-E7B8B14FCD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AA1326-710E-7C88-03B3-8FB61F818F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888187-EBEE-D26C-2FA4-EDE13DF41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1DC8B-00BD-480B-A4ED-E535B51FF738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312EC5-C923-4528-6F03-2800297B0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E79411-E431-49A9-A674-01A7D74FA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E3277-B7F1-44FA-9EC0-169C8CEEE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463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669B5-FFBB-489B-1D4C-B3AAB5DA6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D67E1C-3EF3-C164-2F20-B5DA8C126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1DC8B-00BD-480B-A4ED-E535B51FF738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7FB499-A2F1-7A68-B1DB-BAF777786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2B3E2F-E47D-6E95-51B1-C8D762F36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E3277-B7F1-44FA-9EC0-169C8CEEE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121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AC4257-B241-DC90-8FD1-E7452D830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1DC8B-00BD-480B-A4ED-E535B51FF738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09A536-F627-9C60-2E15-2EB767CCF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6D218-7D35-8765-9CEA-B12218173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E3277-B7F1-44FA-9EC0-169C8CEEE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758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32BC9-E82B-FAFD-79F5-2F3BB5BB4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1B00A-78BF-57D8-C6CB-CE823452E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D3679F-170D-4261-CC12-0B1458E82C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9627F2-2CAB-CD21-00A9-3CBFC85E4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1DC8B-00BD-480B-A4ED-E535B51FF738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217D16-B74A-EB78-46DE-B54BD73F9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877649-3055-0043-EE65-4D4115916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E3277-B7F1-44FA-9EC0-169C8CEEE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953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E255B-FB5B-602D-05D8-0B8AA423F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F71CAF-5DE5-4373-1B90-B8EDB3796F6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08FD89-A8C8-32A0-0703-976A2B1940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76282F-F29C-305B-0692-736CD1B2D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1DC8B-00BD-480B-A4ED-E535B51FF738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4E5715-0D0D-D4EF-E978-1561F8DDF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ECC84E-7EC7-6171-FE38-E751A2F14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E3277-B7F1-44FA-9EC0-169C8CEEE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652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DA8B4-611B-2A45-CF12-EBFAB99E6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13CE5F-5F97-7065-31DA-07AE896D58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7753BD-5CBF-A575-41D7-E6EB7D0F5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1DC8B-00BD-480B-A4ED-E535B51FF738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9EABAB-26E4-8D4E-038A-28B744F92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26B78-9ED5-57A0-B2CD-E834C155B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E3277-B7F1-44FA-9EC0-169C8CEEE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456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6E40E1-982B-9E8E-64DD-BEC5D15EEC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682558-B508-38EE-1DB0-7848833623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0E92DC-3762-C054-9D80-2EEE77B91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1DC8B-00BD-480B-A4ED-E535B51FF738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FF58B-7C1D-9B6A-2D13-C9305CB39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27E8F3-93A1-3C91-5298-AC7116180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E3277-B7F1-44FA-9EC0-169C8CEEE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503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F355B0-3CF1-CDFF-A151-773ACC305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3DD4EC-0881-8875-7159-D453F88DFA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97C1AF-00F4-049B-D934-55EA4B6820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91DC8B-00BD-480B-A4ED-E535B51FF738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5E3104-CD49-C85C-0259-8C345EFB1A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E918F-2B5F-F406-5F5C-E6486ABE4A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4E3277-B7F1-44FA-9EC0-169C8CEEE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920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0.sv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9.svg"/><Relationship Id="rId2" Type="http://schemas.openxmlformats.org/officeDocument/2006/relationships/image" Target="../media/image1.png"/><Relationship Id="rId16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8.svg"/><Relationship Id="rId5" Type="http://schemas.openxmlformats.org/officeDocument/2006/relationships/image" Target="../media/image4.svg"/><Relationship Id="rId15" Type="http://schemas.openxmlformats.org/officeDocument/2006/relationships/image" Target="../media/image12.png"/><Relationship Id="rId10" Type="http://schemas.openxmlformats.org/officeDocument/2006/relationships/chart" Target="../charts/chart2.xml"/><Relationship Id="rId4" Type="http://schemas.openxmlformats.org/officeDocument/2006/relationships/image" Target="../media/image3.svg"/><Relationship Id="rId9" Type="http://schemas.openxmlformats.org/officeDocument/2006/relationships/chart" Target="../charts/chart1.xml"/><Relationship Id="rId1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1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 descr="The image depicts a dark background with a red line graph showing a trend, and several binary sequences in the corner.&#10;&#10;AI-generated content may be incorrect.">
            <a:extLst>
              <a:ext uri="{FF2B5EF4-FFF2-40B4-BE49-F238E27FC236}">
                <a16:creationId xmlns:a16="http://schemas.microsoft.com/office/drawing/2014/main" id="{C57BF505-0916-62AD-35BD-6C47A70D9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51" y="4392051"/>
            <a:ext cx="5454930" cy="2320377"/>
          </a:xfrm>
          <a:prstGeom prst="rect">
            <a:avLst/>
          </a:prstGeom>
        </p:spPr>
      </p:pic>
      <p:pic>
        <p:nvPicPr>
          <p:cNvPr id="9" name="Picture 8" descr="The image depicts a book with a light, possibly representing the PTIT Learning logo, suggesting an educational or academic theme.&#10;&#10;AI-generated content may be incorrect.">
            <a:extLst>
              <a:ext uri="{FF2B5EF4-FFF2-40B4-BE49-F238E27FC236}">
                <a16:creationId xmlns:a16="http://schemas.microsoft.com/office/drawing/2014/main" id="{472D0036-A784-3B6B-C884-E2C76101D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829850" y="1288986"/>
            <a:ext cx="2305168" cy="76203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10BB8E8-B909-B8A6-F616-1CA928F83E73}"/>
              </a:ext>
            </a:extLst>
          </p:cNvPr>
          <p:cNvSpPr txBox="1"/>
          <p:nvPr/>
        </p:nvSpPr>
        <p:spPr>
          <a:xfrm>
            <a:off x="2700867" y="406380"/>
            <a:ext cx="949113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chemeClr val="bg1"/>
                </a:solidFill>
                <a:latin typeface="1.1 OPPO Sans VN Italic Bold" panose="00000500000000000000" pitchFamily="50" charset="0"/>
              </a:rPr>
              <a:t>NỀN TẢNG HỌC TRỰC TUYẾN DÀNH CHO MỌI NG</a:t>
            </a:r>
            <a:r>
              <a:rPr lang="vi-VN" sz="2600" dirty="0">
                <a:solidFill>
                  <a:schemeClr val="bg1"/>
                </a:solidFill>
                <a:latin typeface="1.1 OPPO Sans VN Italic Bold" panose="00000500000000000000" pitchFamily="50" charset="0"/>
              </a:rPr>
              <a:t>ƯỜI</a:t>
            </a:r>
            <a:endParaRPr lang="en-US" sz="2600" dirty="0">
              <a:solidFill>
                <a:schemeClr val="bg1"/>
              </a:solidFill>
              <a:latin typeface="1.1 OPPO Sans VN Italic Bold" panose="00000500000000000000" pitchFamily="50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6E0B2C-CB0A-BBEB-FB3C-4E6FF6C34F90}"/>
              </a:ext>
            </a:extLst>
          </p:cNvPr>
          <p:cNvSpPr txBox="1"/>
          <p:nvPr/>
        </p:nvSpPr>
        <p:spPr>
          <a:xfrm>
            <a:off x="261350" y="2330754"/>
            <a:ext cx="510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1.1 OPPO Sans VN Italic Bold" panose="00000500000000000000" pitchFamily="50" charset="0"/>
              </a:rPr>
              <a:t>ĐIỂM NHẤN CỦA NỀN TẢNG(Highlights)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1F8600C-3C3D-1DC1-176D-074E2CC7BA1B}"/>
              </a:ext>
            </a:extLst>
          </p:cNvPr>
          <p:cNvGrpSpPr/>
          <p:nvPr/>
        </p:nvGrpSpPr>
        <p:grpSpPr>
          <a:xfrm>
            <a:off x="1531464" y="2791882"/>
            <a:ext cx="1003303" cy="1246188"/>
            <a:chOff x="1578764" y="2647949"/>
            <a:chExt cx="1003303" cy="1246188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8EB586AD-B27B-D6B1-DCC2-1472BF502550}"/>
                </a:ext>
              </a:extLst>
            </p:cNvPr>
            <p:cNvSpPr/>
            <p:nvPr/>
          </p:nvSpPr>
          <p:spPr>
            <a:xfrm>
              <a:off x="1578766" y="2647949"/>
              <a:ext cx="1003301" cy="1246188"/>
            </a:xfrm>
            <a:prstGeom prst="roundRect">
              <a:avLst/>
            </a:prstGeom>
            <a:solidFill>
              <a:srgbClr val="1B264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016A3AC-76DD-0BB5-0F73-6D0DE8CEB9D8}"/>
                </a:ext>
              </a:extLst>
            </p:cNvPr>
            <p:cNvSpPr/>
            <p:nvPr/>
          </p:nvSpPr>
          <p:spPr>
            <a:xfrm>
              <a:off x="1578765" y="3421062"/>
              <a:ext cx="1003301" cy="473075"/>
            </a:xfrm>
            <a:custGeom>
              <a:avLst/>
              <a:gdLst>
                <a:gd name="csX0" fmla="*/ 0 w 1003301"/>
                <a:gd name="csY0" fmla="*/ 0 h 473075"/>
                <a:gd name="csX1" fmla="*/ 1003301 w 1003301"/>
                <a:gd name="csY1" fmla="*/ 0 h 473075"/>
                <a:gd name="csX2" fmla="*/ 1003301 w 1003301"/>
                <a:gd name="csY2" fmla="*/ 305855 h 473075"/>
                <a:gd name="csX3" fmla="*/ 836081 w 1003301"/>
                <a:gd name="csY3" fmla="*/ 473075 h 473075"/>
                <a:gd name="csX4" fmla="*/ 167220 w 1003301"/>
                <a:gd name="csY4" fmla="*/ 473075 h 473075"/>
                <a:gd name="csX5" fmla="*/ 0 w 1003301"/>
                <a:gd name="csY5" fmla="*/ 305855 h 4730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003301" h="473075">
                  <a:moveTo>
                    <a:pt x="0" y="0"/>
                  </a:moveTo>
                  <a:lnTo>
                    <a:pt x="1003301" y="0"/>
                  </a:lnTo>
                  <a:lnTo>
                    <a:pt x="1003301" y="305855"/>
                  </a:lnTo>
                  <a:cubicBezTo>
                    <a:pt x="1003301" y="398208"/>
                    <a:pt x="928434" y="473075"/>
                    <a:pt x="836081" y="473075"/>
                  </a:cubicBezTo>
                  <a:lnTo>
                    <a:pt x="167220" y="473075"/>
                  </a:lnTo>
                  <a:cubicBezTo>
                    <a:pt x="74867" y="473075"/>
                    <a:pt x="0" y="398208"/>
                    <a:pt x="0" y="305855"/>
                  </a:cubicBezTo>
                  <a:close/>
                </a:path>
              </a:pathLst>
            </a:custGeom>
            <a:solidFill>
              <a:srgbClr val="04113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54EF5D7C-DEF3-1DB7-CFDE-B9A3E258D3DA}"/>
                </a:ext>
              </a:extLst>
            </p:cNvPr>
            <p:cNvSpPr/>
            <p:nvPr/>
          </p:nvSpPr>
          <p:spPr>
            <a:xfrm>
              <a:off x="1578764" y="2647949"/>
              <a:ext cx="1003301" cy="1246188"/>
            </a:xfrm>
            <a:prstGeom prst="roundRect">
              <a:avLst/>
            </a:prstGeom>
            <a:noFill/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DC2AFEC-D218-D8BF-B394-529BF31590D4}"/>
              </a:ext>
            </a:extLst>
          </p:cNvPr>
          <p:cNvGrpSpPr/>
          <p:nvPr/>
        </p:nvGrpSpPr>
        <p:grpSpPr>
          <a:xfrm>
            <a:off x="410631" y="2791882"/>
            <a:ext cx="1003303" cy="1246188"/>
            <a:chOff x="1578764" y="2647949"/>
            <a:chExt cx="1003303" cy="1246188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97A2E139-4931-DB46-AFE3-77D2C880378B}"/>
                </a:ext>
              </a:extLst>
            </p:cNvPr>
            <p:cNvSpPr/>
            <p:nvPr/>
          </p:nvSpPr>
          <p:spPr>
            <a:xfrm>
              <a:off x="1578766" y="2647949"/>
              <a:ext cx="1003301" cy="1246188"/>
            </a:xfrm>
            <a:prstGeom prst="roundRect">
              <a:avLst/>
            </a:prstGeom>
            <a:solidFill>
              <a:srgbClr val="1B264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A518045-340F-3682-C45C-ED6BB401E07F}"/>
                </a:ext>
              </a:extLst>
            </p:cNvPr>
            <p:cNvSpPr/>
            <p:nvPr/>
          </p:nvSpPr>
          <p:spPr>
            <a:xfrm>
              <a:off x="1578765" y="3421062"/>
              <a:ext cx="1003301" cy="473075"/>
            </a:xfrm>
            <a:custGeom>
              <a:avLst/>
              <a:gdLst>
                <a:gd name="csX0" fmla="*/ 0 w 1003301"/>
                <a:gd name="csY0" fmla="*/ 0 h 473075"/>
                <a:gd name="csX1" fmla="*/ 1003301 w 1003301"/>
                <a:gd name="csY1" fmla="*/ 0 h 473075"/>
                <a:gd name="csX2" fmla="*/ 1003301 w 1003301"/>
                <a:gd name="csY2" fmla="*/ 305855 h 473075"/>
                <a:gd name="csX3" fmla="*/ 836081 w 1003301"/>
                <a:gd name="csY3" fmla="*/ 473075 h 473075"/>
                <a:gd name="csX4" fmla="*/ 167220 w 1003301"/>
                <a:gd name="csY4" fmla="*/ 473075 h 473075"/>
                <a:gd name="csX5" fmla="*/ 0 w 1003301"/>
                <a:gd name="csY5" fmla="*/ 305855 h 4730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003301" h="473075">
                  <a:moveTo>
                    <a:pt x="0" y="0"/>
                  </a:moveTo>
                  <a:lnTo>
                    <a:pt x="1003301" y="0"/>
                  </a:lnTo>
                  <a:lnTo>
                    <a:pt x="1003301" y="305855"/>
                  </a:lnTo>
                  <a:cubicBezTo>
                    <a:pt x="1003301" y="398208"/>
                    <a:pt x="928434" y="473075"/>
                    <a:pt x="836081" y="473075"/>
                  </a:cubicBezTo>
                  <a:lnTo>
                    <a:pt x="167220" y="473075"/>
                  </a:lnTo>
                  <a:cubicBezTo>
                    <a:pt x="74867" y="473075"/>
                    <a:pt x="0" y="398208"/>
                    <a:pt x="0" y="305855"/>
                  </a:cubicBezTo>
                  <a:close/>
                </a:path>
              </a:pathLst>
            </a:custGeom>
            <a:solidFill>
              <a:srgbClr val="04113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5B38F7C3-1370-C209-9252-E4BE7FB75751}"/>
                </a:ext>
              </a:extLst>
            </p:cNvPr>
            <p:cNvSpPr/>
            <p:nvPr/>
          </p:nvSpPr>
          <p:spPr>
            <a:xfrm>
              <a:off x="1578764" y="2647949"/>
              <a:ext cx="1003301" cy="1246188"/>
            </a:xfrm>
            <a:prstGeom prst="roundRect">
              <a:avLst/>
            </a:prstGeom>
            <a:noFill/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D9E7554-AD3D-43FB-9D8B-F405AB925129}"/>
              </a:ext>
            </a:extLst>
          </p:cNvPr>
          <p:cNvGrpSpPr/>
          <p:nvPr/>
        </p:nvGrpSpPr>
        <p:grpSpPr>
          <a:xfrm>
            <a:off x="3764658" y="2791882"/>
            <a:ext cx="1003303" cy="1246188"/>
            <a:chOff x="1578764" y="2647949"/>
            <a:chExt cx="1003303" cy="1246188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02D1A013-45EF-9FAC-171E-CB44C7CF8809}"/>
                </a:ext>
              </a:extLst>
            </p:cNvPr>
            <p:cNvSpPr/>
            <p:nvPr/>
          </p:nvSpPr>
          <p:spPr>
            <a:xfrm>
              <a:off x="1578766" y="2647949"/>
              <a:ext cx="1003301" cy="1246188"/>
            </a:xfrm>
            <a:prstGeom prst="roundRect">
              <a:avLst/>
            </a:prstGeom>
            <a:solidFill>
              <a:srgbClr val="1B264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A795EF5-9822-1EA8-583B-7054E438094F}"/>
                </a:ext>
              </a:extLst>
            </p:cNvPr>
            <p:cNvSpPr/>
            <p:nvPr/>
          </p:nvSpPr>
          <p:spPr>
            <a:xfrm>
              <a:off x="1578765" y="3421062"/>
              <a:ext cx="1003301" cy="473075"/>
            </a:xfrm>
            <a:custGeom>
              <a:avLst/>
              <a:gdLst>
                <a:gd name="csX0" fmla="*/ 0 w 1003301"/>
                <a:gd name="csY0" fmla="*/ 0 h 473075"/>
                <a:gd name="csX1" fmla="*/ 1003301 w 1003301"/>
                <a:gd name="csY1" fmla="*/ 0 h 473075"/>
                <a:gd name="csX2" fmla="*/ 1003301 w 1003301"/>
                <a:gd name="csY2" fmla="*/ 305855 h 473075"/>
                <a:gd name="csX3" fmla="*/ 836081 w 1003301"/>
                <a:gd name="csY3" fmla="*/ 473075 h 473075"/>
                <a:gd name="csX4" fmla="*/ 167220 w 1003301"/>
                <a:gd name="csY4" fmla="*/ 473075 h 473075"/>
                <a:gd name="csX5" fmla="*/ 0 w 1003301"/>
                <a:gd name="csY5" fmla="*/ 305855 h 4730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003301" h="473075">
                  <a:moveTo>
                    <a:pt x="0" y="0"/>
                  </a:moveTo>
                  <a:lnTo>
                    <a:pt x="1003301" y="0"/>
                  </a:lnTo>
                  <a:lnTo>
                    <a:pt x="1003301" y="305855"/>
                  </a:lnTo>
                  <a:cubicBezTo>
                    <a:pt x="1003301" y="398208"/>
                    <a:pt x="928434" y="473075"/>
                    <a:pt x="836081" y="473075"/>
                  </a:cubicBezTo>
                  <a:lnTo>
                    <a:pt x="167220" y="473075"/>
                  </a:lnTo>
                  <a:cubicBezTo>
                    <a:pt x="74867" y="473075"/>
                    <a:pt x="0" y="398208"/>
                    <a:pt x="0" y="305855"/>
                  </a:cubicBezTo>
                  <a:close/>
                </a:path>
              </a:pathLst>
            </a:custGeom>
            <a:solidFill>
              <a:srgbClr val="04113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E2069AB7-9A42-E118-ACCD-AA32036404DB}"/>
                </a:ext>
              </a:extLst>
            </p:cNvPr>
            <p:cNvSpPr/>
            <p:nvPr/>
          </p:nvSpPr>
          <p:spPr>
            <a:xfrm>
              <a:off x="1578764" y="2647949"/>
              <a:ext cx="1003301" cy="1246188"/>
            </a:xfrm>
            <a:prstGeom prst="roundRect">
              <a:avLst/>
            </a:prstGeom>
            <a:noFill/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55DA7F6-454A-62B9-F6E5-0B2A57264E6F}"/>
              </a:ext>
            </a:extLst>
          </p:cNvPr>
          <p:cNvGrpSpPr/>
          <p:nvPr/>
        </p:nvGrpSpPr>
        <p:grpSpPr>
          <a:xfrm>
            <a:off x="2648062" y="2791882"/>
            <a:ext cx="1003303" cy="1246188"/>
            <a:chOff x="1578764" y="2647949"/>
            <a:chExt cx="1003303" cy="1246188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BB784A84-B317-D068-8279-76193EDC074E}"/>
                </a:ext>
              </a:extLst>
            </p:cNvPr>
            <p:cNvSpPr/>
            <p:nvPr/>
          </p:nvSpPr>
          <p:spPr>
            <a:xfrm>
              <a:off x="1578766" y="2647949"/>
              <a:ext cx="1003301" cy="1246188"/>
            </a:xfrm>
            <a:prstGeom prst="roundRect">
              <a:avLst/>
            </a:prstGeom>
            <a:solidFill>
              <a:srgbClr val="1B264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3F027D2-A144-1E90-9FA4-4244A3E792D9}"/>
                </a:ext>
              </a:extLst>
            </p:cNvPr>
            <p:cNvSpPr/>
            <p:nvPr/>
          </p:nvSpPr>
          <p:spPr>
            <a:xfrm>
              <a:off x="1578765" y="3421062"/>
              <a:ext cx="1003301" cy="473075"/>
            </a:xfrm>
            <a:custGeom>
              <a:avLst/>
              <a:gdLst>
                <a:gd name="csX0" fmla="*/ 0 w 1003301"/>
                <a:gd name="csY0" fmla="*/ 0 h 473075"/>
                <a:gd name="csX1" fmla="*/ 1003301 w 1003301"/>
                <a:gd name="csY1" fmla="*/ 0 h 473075"/>
                <a:gd name="csX2" fmla="*/ 1003301 w 1003301"/>
                <a:gd name="csY2" fmla="*/ 305855 h 473075"/>
                <a:gd name="csX3" fmla="*/ 836081 w 1003301"/>
                <a:gd name="csY3" fmla="*/ 473075 h 473075"/>
                <a:gd name="csX4" fmla="*/ 167220 w 1003301"/>
                <a:gd name="csY4" fmla="*/ 473075 h 473075"/>
                <a:gd name="csX5" fmla="*/ 0 w 1003301"/>
                <a:gd name="csY5" fmla="*/ 305855 h 4730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003301" h="473075">
                  <a:moveTo>
                    <a:pt x="0" y="0"/>
                  </a:moveTo>
                  <a:lnTo>
                    <a:pt x="1003301" y="0"/>
                  </a:lnTo>
                  <a:lnTo>
                    <a:pt x="1003301" y="305855"/>
                  </a:lnTo>
                  <a:cubicBezTo>
                    <a:pt x="1003301" y="398208"/>
                    <a:pt x="928434" y="473075"/>
                    <a:pt x="836081" y="473075"/>
                  </a:cubicBezTo>
                  <a:lnTo>
                    <a:pt x="167220" y="473075"/>
                  </a:lnTo>
                  <a:cubicBezTo>
                    <a:pt x="74867" y="473075"/>
                    <a:pt x="0" y="398208"/>
                    <a:pt x="0" y="305855"/>
                  </a:cubicBezTo>
                  <a:close/>
                </a:path>
              </a:pathLst>
            </a:custGeom>
            <a:solidFill>
              <a:srgbClr val="04113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F13F9BA3-1EA6-8561-1E58-0DE4E7102EA8}"/>
                </a:ext>
              </a:extLst>
            </p:cNvPr>
            <p:cNvSpPr/>
            <p:nvPr/>
          </p:nvSpPr>
          <p:spPr>
            <a:xfrm>
              <a:off x="1578764" y="2647949"/>
              <a:ext cx="1003301" cy="1246188"/>
            </a:xfrm>
            <a:prstGeom prst="roundRect">
              <a:avLst/>
            </a:prstGeom>
            <a:noFill/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2" name="Graphic 31" descr="User with solid fill">
            <a:extLst>
              <a:ext uri="{FF2B5EF4-FFF2-40B4-BE49-F238E27FC236}">
                <a16:creationId xmlns:a16="http://schemas.microsoft.com/office/drawing/2014/main" id="{4458B462-3526-80E5-39F7-0808253F5C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642" y="2822546"/>
            <a:ext cx="669480" cy="669480"/>
          </a:xfrm>
          <a:prstGeom prst="rect">
            <a:avLst/>
          </a:prstGeom>
        </p:spPr>
      </p:pic>
      <p:pic>
        <p:nvPicPr>
          <p:cNvPr id="34" name="Graphic 33" descr="Video camera with solid fill">
            <a:extLst>
              <a:ext uri="{FF2B5EF4-FFF2-40B4-BE49-F238E27FC236}">
                <a16:creationId xmlns:a16="http://schemas.microsoft.com/office/drawing/2014/main" id="{6D74365A-8690-EE6D-CF1F-A79F7352AA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8045" y="3160739"/>
            <a:ext cx="256674" cy="256674"/>
          </a:xfrm>
          <a:prstGeom prst="rect">
            <a:avLst/>
          </a:prstGeom>
        </p:spPr>
      </p:pic>
      <p:pic>
        <p:nvPicPr>
          <p:cNvPr id="36" name="Graphic 35" descr="Television with solid fill">
            <a:extLst>
              <a:ext uri="{FF2B5EF4-FFF2-40B4-BE49-F238E27FC236}">
                <a16:creationId xmlns:a16="http://schemas.microsoft.com/office/drawing/2014/main" id="{EBC1FE61-CBD2-A1D7-6B50-68DE319065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27523" y="2859507"/>
            <a:ext cx="613692" cy="613692"/>
          </a:xfrm>
          <a:prstGeom prst="rect">
            <a:avLst/>
          </a:prstGeom>
        </p:spPr>
      </p:pic>
      <p:pic>
        <p:nvPicPr>
          <p:cNvPr id="40" name="Graphic 39" descr="Shield Tick with solid fill">
            <a:extLst>
              <a:ext uri="{FF2B5EF4-FFF2-40B4-BE49-F238E27FC236}">
                <a16:creationId xmlns:a16="http://schemas.microsoft.com/office/drawing/2014/main" id="{7EDA232C-F6D4-7C92-A37B-26492D0FEB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66282" y="2866327"/>
            <a:ext cx="600052" cy="600052"/>
          </a:xfrm>
          <a:prstGeom prst="rect">
            <a:avLst/>
          </a:prstGeom>
        </p:spPr>
      </p:pic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EB8E0AE9-3E56-9767-FCCB-D59B7D33C06D}"/>
              </a:ext>
            </a:extLst>
          </p:cNvPr>
          <p:cNvSpPr/>
          <p:nvPr/>
        </p:nvSpPr>
        <p:spPr>
          <a:xfrm rot="5400000">
            <a:off x="1966940" y="3073831"/>
            <a:ext cx="132348" cy="117418"/>
          </a:xfrm>
          <a:prstGeom prst="triangl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AE46BEF-267B-7A30-1292-7013FAF9AB21}"/>
              </a:ext>
            </a:extLst>
          </p:cNvPr>
          <p:cNvSpPr txBox="1"/>
          <p:nvPr/>
        </p:nvSpPr>
        <p:spPr>
          <a:xfrm>
            <a:off x="435753" y="3659056"/>
            <a:ext cx="14748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>
                <a:solidFill>
                  <a:schemeClr val="bg1"/>
                </a:solidFill>
              </a:rPr>
              <a:t>Lớp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học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ảo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8D7F17-7511-F3FA-0F81-0C2BA0E68CA5}"/>
              </a:ext>
            </a:extLst>
          </p:cNvPr>
          <p:cNvSpPr txBox="1"/>
          <p:nvPr/>
        </p:nvSpPr>
        <p:spPr>
          <a:xfrm>
            <a:off x="1295678" y="3564995"/>
            <a:ext cx="1474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Học </a:t>
            </a:r>
            <a:r>
              <a:rPr lang="en-US" sz="1200" b="1" dirty="0" err="1">
                <a:solidFill>
                  <a:schemeClr val="bg1"/>
                </a:solidFill>
              </a:rPr>
              <a:t>mọi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lúc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en-US" sz="1200" b="1" dirty="0" err="1">
                <a:solidFill>
                  <a:schemeClr val="bg1"/>
                </a:solidFill>
              </a:rPr>
              <a:t>mọi</a:t>
            </a:r>
            <a:r>
              <a:rPr lang="en-US" sz="1200" b="1" dirty="0">
                <a:solidFill>
                  <a:schemeClr val="bg1"/>
                </a:solidFill>
              </a:rPr>
              <a:t> n</a:t>
            </a:r>
            <a:r>
              <a:rPr lang="vi-VN" sz="1200" b="1" dirty="0">
                <a:solidFill>
                  <a:schemeClr val="bg1"/>
                </a:solidFill>
              </a:rPr>
              <a:t>ơ</a:t>
            </a:r>
            <a:r>
              <a:rPr lang="en-US" sz="1200" b="1" dirty="0" err="1">
                <a:solidFill>
                  <a:schemeClr val="bg1"/>
                </a:solidFill>
              </a:rPr>
              <a:t>i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30DF032-A3D9-D22B-FD73-9722419BDA65}"/>
              </a:ext>
            </a:extLst>
          </p:cNvPr>
          <p:cNvSpPr txBox="1"/>
          <p:nvPr/>
        </p:nvSpPr>
        <p:spPr>
          <a:xfrm>
            <a:off x="2412276" y="3564977"/>
            <a:ext cx="1474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Theo </a:t>
            </a:r>
            <a:r>
              <a:rPr lang="en-US" sz="1200" b="1" dirty="0" err="1">
                <a:solidFill>
                  <a:schemeClr val="bg1"/>
                </a:solidFill>
              </a:rPr>
              <a:t>dõi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en-US" sz="1200" b="1" dirty="0" err="1">
                <a:solidFill>
                  <a:schemeClr val="bg1"/>
                </a:solidFill>
              </a:rPr>
              <a:t>tiến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độ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3B00A06-C161-0081-4D0D-C30487978681}"/>
              </a:ext>
            </a:extLst>
          </p:cNvPr>
          <p:cNvSpPr txBox="1"/>
          <p:nvPr/>
        </p:nvSpPr>
        <p:spPr>
          <a:xfrm>
            <a:off x="3887148" y="3645204"/>
            <a:ext cx="14748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Bảo </a:t>
            </a:r>
            <a:r>
              <a:rPr lang="en-US" sz="1200" b="1" dirty="0" err="1">
                <a:solidFill>
                  <a:schemeClr val="bg1"/>
                </a:solidFill>
              </a:rPr>
              <a:t>mật</a:t>
            </a:r>
            <a:endParaRPr lang="en-US" sz="1200" b="1" dirty="0">
              <a:solidFill>
                <a:schemeClr val="bg1"/>
              </a:solidFill>
            </a:endParaRPr>
          </a:p>
        </p:txBody>
      </p:sp>
      <p:pic>
        <p:nvPicPr>
          <p:cNvPr id="50" name="Picture 49" descr="The image is a solid, dark, navy blue color.&#10;&#10;AI-generated content may be incorrect.">
            <a:extLst>
              <a:ext uri="{FF2B5EF4-FFF2-40B4-BE49-F238E27FC236}">
                <a16:creationId xmlns:a16="http://schemas.microsoft.com/office/drawing/2014/main" id="{51CB2B96-EF8A-16CD-4701-D0CAD870398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19" y="4096319"/>
            <a:ext cx="5454931" cy="558829"/>
          </a:xfrm>
          <a:prstGeom prst="rect">
            <a:avLst/>
          </a:prstGeom>
        </p:spPr>
      </p:pic>
      <p:pic>
        <p:nvPicPr>
          <p:cNvPr id="51" name="Picture 50" descr="The image is a solid, dark, navy blue color.&#10;&#10;AI-generated content may be incorrect.">
            <a:extLst>
              <a:ext uri="{FF2B5EF4-FFF2-40B4-BE49-F238E27FC236}">
                <a16:creationId xmlns:a16="http://schemas.microsoft.com/office/drawing/2014/main" id="{958953F7-DB1D-3E1C-1262-ECEDF65499C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0447" y="3659056"/>
            <a:ext cx="681134" cy="3097344"/>
          </a:xfrm>
          <a:prstGeom prst="rect">
            <a:avLst/>
          </a:prstGeom>
        </p:spPr>
      </p:pic>
      <p:grpSp>
        <p:nvGrpSpPr>
          <p:cNvPr id="89" name="Group 88">
            <a:extLst>
              <a:ext uri="{FF2B5EF4-FFF2-40B4-BE49-F238E27FC236}">
                <a16:creationId xmlns:a16="http://schemas.microsoft.com/office/drawing/2014/main" id="{E28A2FA2-C783-6666-6077-0D274B04E737}"/>
              </a:ext>
            </a:extLst>
          </p:cNvPr>
          <p:cNvGrpSpPr/>
          <p:nvPr/>
        </p:nvGrpSpPr>
        <p:grpSpPr>
          <a:xfrm>
            <a:off x="5362020" y="5046997"/>
            <a:ext cx="6561838" cy="1246188"/>
            <a:chOff x="6258211" y="5135032"/>
            <a:chExt cx="4936839" cy="1246188"/>
          </a:xfrm>
        </p:grpSpPr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CB3C0691-2721-96F7-FE20-00DBFB056B03}"/>
                </a:ext>
              </a:extLst>
            </p:cNvPr>
            <p:cNvSpPr/>
            <p:nvPr/>
          </p:nvSpPr>
          <p:spPr>
            <a:xfrm>
              <a:off x="6258221" y="5135032"/>
              <a:ext cx="4936829" cy="1246188"/>
            </a:xfrm>
            <a:prstGeom prst="roundRect">
              <a:avLst/>
            </a:prstGeom>
            <a:solidFill>
              <a:srgbClr val="1B264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17141C48-6F32-7349-1ABF-09A7DBA53299}"/>
                </a:ext>
              </a:extLst>
            </p:cNvPr>
            <p:cNvSpPr/>
            <p:nvPr/>
          </p:nvSpPr>
          <p:spPr>
            <a:xfrm>
              <a:off x="6258211" y="5135032"/>
              <a:ext cx="4936829" cy="1246188"/>
            </a:xfrm>
            <a:prstGeom prst="roundRect">
              <a:avLst/>
            </a:prstGeom>
            <a:noFill/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2D41678-F537-B28F-726A-241FC449C754}"/>
              </a:ext>
            </a:extLst>
          </p:cNvPr>
          <p:cNvCxnSpPr>
            <a:cxnSpLocks/>
          </p:cNvCxnSpPr>
          <p:nvPr/>
        </p:nvCxnSpPr>
        <p:spPr>
          <a:xfrm>
            <a:off x="9082225" y="1519740"/>
            <a:ext cx="0" cy="32819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8" name="Chart 67">
            <a:extLst>
              <a:ext uri="{FF2B5EF4-FFF2-40B4-BE49-F238E27FC236}">
                <a16:creationId xmlns:a16="http://schemas.microsoft.com/office/drawing/2014/main" id="{C3735EF9-2F2D-C579-3FD1-B78A8FF8E6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6576034"/>
              </p:ext>
            </p:extLst>
          </p:nvPr>
        </p:nvGraphicFramePr>
        <p:xfrm>
          <a:off x="5232007" y="2213429"/>
          <a:ext cx="3703784" cy="27121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69" name="TextBox 68">
            <a:extLst>
              <a:ext uri="{FF2B5EF4-FFF2-40B4-BE49-F238E27FC236}">
                <a16:creationId xmlns:a16="http://schemas.microsoft.com/office/drawing/2014/main" id="{A11E352D-ED69-7947-03F2-F0EC16F2E3B4}"/>
              </a:ext>
            </a:extLst>
          </p:cNvPr>
          <p:cNvSpPr txBox="1"/>
          <p:nvPr/>
        </p:nvSpPr>
        <p:spPr>
          <a:xfrm>
            <a:off x="4767959" y="1552490"/>
            <a:ext cx="329664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glow rad="63500">
                    <a:srgbClr val="FFC000">
                      <a:alpha val="40000"/>
                    </a:srgbClr>
                  </a:glow>
                </a:effectLst>
                <a:latin typeface="1.1 OPPO Sans VN Italic Bold" panose="00000500000000000000" pitchFamily="50" charset="0"/>
              </a:rPr>
              <a:t>TĂNG TR</a:t>
            </a:r>
            <a:r>
              <a:rPr lang="vi-VN" sz="160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glow rad="63500">
                    <a:srgbClr val="FFC000">
                      <a:alpha val="40000"/>
                    </a:srgbClr>
                  </a:glow>
                </a:effectLst>
                <a:latin typeface="1.1 OPPO Sans VN Italic Bold" panose="00000500000000000000" pitchFamily="50" charset="0"/>
              </a:rPr>
              <a:t>ƯỞNG</a:t>
            </a:r>
            <a:r>
              <a:rPr lang="en-US" sz="160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glow rad="63500">
                    <a:srgbClr val="FFC000">
                      <a:alpha val="40000"/>
                    </a:srgbClr>
                  </a:glow>
                </a:effectLst>
                <a:latin typeface="1.1 OPPO Sans VN Italic Bold" panose="00000500000000000000" pitchFamily="50" charset="0"/>
              </a:rPr>
              <a:t> HỌC VIÊN</a:t>
            </a:r>
          </a:p>
          <a:p>
            <a:r>
              <a:rPr lang="en-US" sz="1100" dirty="0">
                <a:solidFill>
                  <a:schemeClr val="bg1"/>
                </a:solidFill>
                <a:effectLst>
                  <a:glow rad="63500">
                    <a:srgbClr val="FFC000">
                      <a:alpha val="40000"/>
                    </a:srgbClr>
                  </a:glow>
                </a:effectLst>
                <a:latin typeface="1.1 OPPO Sans VN Italic Bold" panose="00000500000000000000" pitchFamily="50" charset="0"/>
              </a:rPr>
              <a:t>(Đ</a:t>
            </a:r>
            <a:r>
              <a:rPr lang="vi-VN" sz="1100" dirty="0">
                <a:solidFill>
                  <a:schemeClr val="bg1"/>
                </a:solidFill>
                <a:effectLst>
                  <a:glow rad="63500">
                    <a:srgbClr val="FFC000">
                      <a:alpha val="40000"/>
                    </a:srgbClr>
                  </a:glow>
                </a:effectLst>
                <a:latin typeface="1.1 OPPO Sans VN Italic Bold" panose="00000500000000000000" pitchFamily="50" charset="0"/>
              </a:rPr>
              <a:t>ơn</a:t>
            </a:r>
            <a:r>
              <a:rPr lang="en-US" sz="1100" dirty="0">
                <a:solidFill>
                  <a:schemeClr val="bg1"/>
                </a:solidFill>
                <a:effectLst>
                  <a:glow rad="63500">
                    <a:srgbClr val="FFC000">
                      <a:alpha val="40000"/>
                    </a:srgbClr>
                  </a:glow>
                </a:effectLst>
                <a:latin typeface="1.1 OPPO Sans VN Italic Bold" panose="00000500000000000000" pitchFamily="50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effectLst>
                  <a:glow rad="63500">
                    <a:srgbClr val="FFC000">
                      <a:alpha val="40000"/>
                    </a:srgbClr>
                  </a:glow>
                </a:effectLst>
                <a:latin typeface="1.1 OPPO Sans VN Italic Bold" panose="00000500000000000000" pitchFamily="50" charset="0"/>
              </a:rPr>
              <a:t>vị</a:t>
            </a:r>
            <a:r>
              <a:rPr lang="en-US" sz="1100" dirty="0">
                <a:solidFill>
                  <a:schemeClr val="bg1"/>
                </a:solidFill>
                <a:effectLst>
                  <a:glow rad="63500">
                    <a:srgbClr val="FFC000">
                      <a:alpha val="40000"/>
                    </a:srgbClr>
                  </a:glow>
                </a:effectLst>
                <a:latin typeface="1.1 OPPO Sans VN Italic Bold" panose="00000500000000000000" pitchFamily="50" charset="0"/>
              </a:rPr>
              <a:t>: Ng</a:t>
            </a:r>
            <a:r>
              <a:rPr lang="vi-VN" sz="1100" dirty="0">
                <a:solidFill>
                  <a:schemeClr val="bg1"/>
                </a:solidFill>
                <a:effectLst>
                  <a:glow rad="63500">
                    <a:srgbClr val="FFC000">
                      <a:alpha val="40000"/>
                    </a:srgbClr>
                  </a:glow>
                </a:effectLst>
                <a:latin typeface="1.1 OPPO Sans VN Italic Bold" panose="00000500000000000000" pitchFamily="50" charset="0"/>
              </a:rPr>
              <a:t>ười</a:t>
            </a:r>
            <a:r>
              <a:rPr lang="en-US" sz="1100" dirty="0">
                <a:solidFill>
                  <a:schemeClr val="bg1"/>
                </a:solidFill>
                <a:effectLst>
                  <a:glow rad="63500">
                    <a:srgbClr val="FFC000">
                      <a:alpha val="40000"/>
                    </a:srgbClr>
                  </a:glow>
                </a:effectLst>
                <a:latin typeface="1.1 OPPO Sans VN Italic Bold" panose="00000500000000000000" pitchFamily="50" charset="0"/>
              </a:rPr>
              <a:t>)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26072E9-058E-13D0-EDCF-922EE3C3293C}"/>
              </a:ext>
            </a:extLst>
          </p:cNvPr>
          <p:cNvSpPr txBox="1"/>
          <p:nvPr/>
        </p:nvSpPr>
        <p:spPr>
          <a:xfrm>
            <a:off x="9228660" y="155249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glow rad="101600">
                    <a:srgbClr val="FFC000">
                      <a:alpha val="40000"/>
                    </a:srgbClr>
                  </a:glow>
                </a:effectLst>
                <a:latin typeface="1.1 OPPO Sans VN Italic Bold" panose="00000500000000000000" pitchFamily="50" charset="0"/>
              </a:rPr>
              <a:t>C</a:t>
            </a:r>
            <a:r>
              <a:rPr lang="vi-VN" sz="160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glow rad="101600">
                    <a:srgbClr val="FFC000">
                      <a:alpha val="40000"/>
                    </a:srgbClr>
                  </a:glow>
                </a:effectLst>
                <a:latin typeface="1.1 OPPO Sans VN Italic Bold" panose="00000500000000000000" pitchFamily="50" charset="0"/>
              </a:rPr>
              <a:t>Ơ</a:t>
            </a:r>
            <a:r>
              <a:rPr lang="en-US" sz="160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glow rad="101600">
                    <a:srgbClr val="FFC000">
                      <a:alpha val="40000"/>
                    </a:srgbClr>
                  </a:glow>
                </a:effectLst>
                <a:latin typeface="1.1 OPPO Sans VN Italic Bold" panose="00000500000000000000" pitchFamily="50" charset="0"/>
              </a:rPr>
              <a:t> CẤU NGUỒN ĐĂNG KÍ</a:t>
            </a:r>
          </a:p>
        </p:txBody>
      </p:sp>
      <p:graphicFrame>
        <p:nvGraphicFramePr>
          <p:cNvPr id="74" name="Chart 73">
            <a:extLst>
              <a:ext uri="{FF2B5EF4-FFF2-40B4-BE49-F238E27FC236}">
                <a16:creationId xmlns:a16="http://schemas.microsoft.com/office/drawing/2014/main" id="{43D22AC0-3FC2-296D-A9D0-5BBF5E1DC32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35619977"/>
              </p:ext>
            </p:extLst>
          </p:nvPr>
        </p:nvGraphicFramePr>
        <p:xfrm>
          <a:off x="9434837" y="1928779"/>
          <a:ext cx="2263769" cy="22751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EB9DF3EA-B660-480A-A8FE-8E27FC4B56E3}"/>
              </a:ext>
            </a:extLst>
          </p:cNvPr>
          <p:cNvCxnSpPr/>
          <p:nvPr/>
        </p:nvCxnSpPr>
        <p:spPr>
          <a:xfrm>
            <a:off x="9950835" y="2461537"/>
            <a:ext cx="181429" cy="27620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AA352845-06E7-296B-E3D6-627442425FCC}"/>
              </a:ext>
            </a:extLst>
          </p:cNvPr>
          <p:cNvCxnSpPr>
            <a:cxnSpLocks/>
          </p:cNvCxnSpPr>
          <p:nvPr/>
        </p:nvCxnSpPr>
        <p:spPr>
          <a:xfrm>
            <a:off x="9675064" y="3310085"/>
            <a:ext cx="18127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31B56926-4281-602A-1131-D6D800C01329}"/>
              </a:ext>
            </a:extLst>
          </p:cNvPr>
          <p:cNvCxnSpPr>
            <a:cxnSpLocks/>
          </p:cNvCxnSpPr>
          <p:nvPr/>
        </p:nvCxnSpPr>
        <p:spPr>
          <a:xfrm flipH="1">
            <a:off x="11095047" y="2702070"/>
            <a:ext cx="135855" cy="127463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12401314-7717-7309-5FAA-B1D0D04BAB13}"/>
              </a:ext>
            </a:extLst>
          </p:cNvPr>
          <p:cNvCxnSpPr>
            <a:cxnSpLocks/>
          </p:cNvCxnSpPr>
          <p:nvPr/>
        </p:nvCxnSpPr>
        <p:spPr>
          <a:xfrm flipH="1">
            <a:off x="10395545" y="3926193"/>
            <a:ext cx="70704" cy="27776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4535BA8C-BD5F-1B6B-75FF-28410195C46C}"/>
              </a:ext>
            </a:extLst>
          </p:cNvPr>
          <p:cNvSpPr txBox="1"/>
          <p:nvPr/>
        </p:nvSpPr>
        <p:spPr>
          <a:xfrm>
            <a:off x="9675064" y="2051025"/>
            <a:ext cx="1807513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F9ED5"/>
                </a:solidFill>
              </a:rPr>
              <a:t>Google Form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21%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A37E4C9-A188-A839-D411-836E940FED02}"/>
              </a:ext>
            </a:extLst>
          </p:cNvPr>
          <p:cNvSpPr txBox="1"/>
          <p:nvPr/>
        </p:nvSpPr>
        <p:spPr>
          <a:xfrm>
            <a:off x="9228660" y="3015570"/>
            <a:ext cx="1807513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 err="1">
                <a:solidFill>
                  <a:srgbClr val="196B24"/>
                </a:solidFill>
              </a:rPr>
              <a:t>Zalo</a:t>
            </a:r>
            <a:endParaRPr lang="en-US" sz="1000" dirty="0">
              <a:solidFill>
                <a:srgbClr val="196B24"/>
              </a:solidFill>
            </a:endParaRPr>
          </a:p>
          <a:p>
            <a:r>
              <a:rPr lang="en-US" sz="1000" b="1" dirty="0">
                <a:solidFill>
                  <a:schemeClr val="bg1"/>
                </a:solidFill>
              </a:rPr>
              <a:t>16%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336D4B9-088B-E6D4-BD50-8DEA5049D7F3}"/>
              </a:ext>
            </a:extLst>
          </p:cNvPr>
          <p:cNvSpPr txBox="1"/>
          <p:nvPr/>
        </p:nvSpPr>
        <p:spPr>
          <a:xfrm>
            <a:off x="11173328" y="2301698"/>
            <a:ext cx="1807513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156082"/>
                </a:solidFill>
              </a:rPr>
              <a:t>Facebook Ads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27%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2A4B9F0-B89C-E02F-7CBA-620AEAA7A086}"/>
              </a:ext>
            </a:extLst>
          </p:cNvPr>
          <p:cNvSpPr txBox="1"/>
          <p:nvPr/>
        </p:nvSpPr>
        <p:spPr>
          <a:xfrm>
            <a:off x="9856334" y="4167946"/>
            <a:ext cx="1807513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E97132"/>
                </a:solidFill>
              </a:rPr>
              <a:t>Website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36%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32A0A18-7C62-6963-D9C7-3FAFBC3F7C46}"/>
              </a:ext>
            </a:extLst>
          </p:cNvPr>
          <p:cNvSpPr txBox="1"/>
          <p:nvPr/>
        </p:nvSpPr>
        <p:spPr>
          <a:xfrm>
            <a:off x="6900464" y="5086073"/>
            <a:ext cx="4295260" cy="369332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glow rad="101600">
                    <a:srgbClr val="E97132">
                      <a:alpha val="40000"/>
                    </a:srgbClr>
                  </a:glow>
                </a:effectLst>
                <a:latin typeface="1.1 OPPO Sans VN Italic Bold" panose="00000500000000000000" pitchFamily="50" charset="0"/>
              </a:rPr>
              <a:t>TỔNG KẾT THÁNG 05/2026</a:t>
            </a: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2803F2D3-EA61-3288-947D-AF9879BB1784}"/>
              </a:ext>
            </a:extLst>
          </p:cNvPr>
          <p:cNvGrpSpPr/>
          <p:nvPr/>
        </p:nvGrpSpPr>
        <p:grpSpPr>
          <a:xfrm>
            <a:off x="6167991" y="5400674"/>
            <a:ext cx="550572" cy="369332"/>
            <a:chOff x="4968508" y="4087433"/>
            <a:chExt cx="791026" cy="471653"/>
          </a:xfrm>
        </p:grpSpPr>
        <p:pic>
          <p:nvPicPr>
            <p:cNvPr id="93" name="Graphic 92" descr="User with solid fill">
              <a:extLst>
                <a:ext uri="{FF2B5EF4-FFF2-40B4-BE49-F238E27FC236}">
                  <a16:creationId xmlns:a16="http://schemas.microsoft.com/office/drawing/2014/main" id="{1E87C957-1B13-E065-1E9B-55BC61914ED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968508" y="4087434"/>
              <a:ext cx="395513" cy="395513"/>
            </a:xfrm>
            <a:prstGeom prst="rect">
              <a:avLst/>
            </a:prstGeom>
          </p:spPr>
        </p:pic>
        <p:pic>
          <p:nvPicPr>
            <p:cNvPr id="94" name="Graphic 93" descr="User with solid fill">
              <a:extLst>
                <a:ext uri="{FF2B5EF4-FFF2-40B4-BE49-F238E27FC236}">
                  <a16:creationId xmlns:a16="http://schemas.microsoft.com/office/drawing/2014/main" id="{374DC294-780F-CF47-DA05-CD054F855A0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364021" y="4087434"/>
              <a:ext cx="395513" cy="395513"/>
            </a:xfrm>
            <a:prstGeom prst="rect">
              <a:avLst/>
            </a:prstGeom>
          </p:spPr>
        </p:pic>
        <p:pic>
          <p:nvPicPr>
            <p:cNvPr id="95" name="Graphic 94" descr="User with solid fill">
              <a:extLst>
                <a:ext uri="{FF2B5EF4-FFF2-40B4-BE49-F238E27FC236}">
                  <a16:creationId xmlns:a16="http://schemas.microsoft.com/office/drawing/2014/main" id="{258AFAA5-898F-383D-3AB2-EF975073174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121377" y="4087433"/>
              <a:ext cx="471653" cy="471653"/>
            </a:xfrm>
            <a:prstGeom prst="rect">
              <a:avLst/>
            </a:prstGeom>
          </p:spPr>
        </p:pic>
      </p:grpSp>
      <p:pic>
        <p:nvPicPr>
          <p:cNvPr id="99" name="Graphic 98" descr="Graduation cap with solid fill">
            <a:extLst>
              <a:ext uri="{FF2B5EF4-FFF2-40B4-BE49-F238E27FC236}">
                <a16:creationId xmlns:a16="http://schemas.microsoft.com/office/drawing/2014/main" id="{871CE1EF-4530-C9E2-2DA3-FD8328031E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69569" y="5244410"/>
            <a:ext cx="681618" cy="681618"/>
          </a:xfrm>
          <a:prstGeom prst="rect">
            <a:avLst/>
          </a:prstGeom>
        </p:spPr>
      </p:pic>
      <p:pic>
        <p:nvPicPr>
          <p:cNvPr id="100" name="Graphic 99" descr="Bar graph with upward trend with solid fill">
            <a:extLst>
              <a:ext uri="{FF2B5EF4-FFF2-40B4-BE49-F238E27FC236}">
                <a16:creationId xmlns:a16="http://schemas.microsoft.com/office/drawing/2014/main" id="{FA524157-31C6-3F69-EECE-0885C1C0A6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883222" y="3037093"/>
            <a:ext cx="842433" cy="562240"/>
          </a:xfrm>
          <a:prstGeom prst="rect">
            <a:avLst/>
          </a:prstGeom>
        </p:spPr>
      </p:pic>
      <p:pic>
        <p:nvPicPr>
          <p:cNvPr id="38" name="Graphic 37" descr="Bar graph with upward trend with solid fill">
            <a:extLst>
              <a:ext uri="{FF2B5EF4-FFF2-40B4-BE49-F238E27FC236}">
                <a16:creationId xmlns:a16="http://schemas.microsoft.com/office/drawing/2014/main" id="{B097B2B8-8720-B163-E8F1-22FE7EC860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431306" y="5409484"/>
            <a:ext cx="625514" cy="417468"/>
          </a:xfrm>
          <a:prstGeom prst="rect">
            <a:avLst/>
          </a:prstGeom>
        </p:spPr>
      </p:pic>
      <p:pic>
        <p:nvPicPr>
          <p:cNvPr id="102" name="Graphic 101" descr="Wallet outline">
            <a:extLst>
              <a:ext uri="{FF2B5EF4-FFF2-40B4-BE49-F238E27FC236}">
                <a16:creationId xmlns:a16="http://schemas.microsoft.com/office/drawing/2014/main" id="{0C133CEE-5BCD-1EB9-A044-2507208BB6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099401" y="5324637"/>
            <a:ext cx="556213" cy="556213"/>
          </a:xfrm>
          <a:prstGeom prst="rect">
            <a:avLst/>
          </a:prstGeom>
        </p:spPr>
      </p:pic>
      <p:pic>
        <p:nvPicPr>
          <p:cNvPr id="104" name="Picture 103" descr="3/10&#10;&#10;AI-generated content may be incorrect.">
            <a:extLst>
              <a:ext uri="{FF2B5EF4-FFF2-40B4-BE49-F238E27FC236}">
                <a16:creationId xmlns:a16="http://schemas.microsoft.com/office/drawing/2014/main" id="{864D4372-6D29-1C42-B9AB-18BD157408E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393" y="7293947"/>
            <a:ext cx="12192393" cy="390896"/>
          </a:xfrm>
          <a:prstGeom prst="rect">
            <a:avLst/>
          </a:prstGeom>
        </p:spPr>
      </p:pic>
      <p:sp>
        <p:nvSpPr>
          <p:cNvPr id="105" name="TextBox 104">
            <a:extLst>
              <a:ext uri="{FF2B5EF4-FFF2-40B4-BE49-F238E27FC236}">
                <a16:creationId xmlns:a16="http://schemas.microsoft.com/office/drawing/2014/main" id="{E9CE725D-8476-F5F0-8D26-478272E72ACA}"/>
              </a:ext>
            </a:extLst>
          </p:cNvPr>
          <p:cNvSpPr txBox="1"/>
          <p:nvPr/>
        </p:nvSpPr>
        <p:spPr>
          <a:xfrm>
            <a:off x="5533487" y="5716961"/>
            <a:ext cx="18100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9,200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Học </a:t>
            </a:r>
            <a:r>
              <a:rPr lang="en-US" sz="1400" dirty="0" err="1">
                <a:solidFill>
                  <a:schemeClr val="bg1"/>
                </a:solidFill>
              </a:rPr>
              <a:t>viên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mới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A0F9EF5C-CD23-7D00-9328-4843B75971BB}"/>
              </a:ext>
            </a:extLst>
          </p:cNvPr>
          <p:cNvSpPr txBox="1"/>
          <p:nvPr/>
        </p:nvSpPr>
        <p:spPr>
          <a:xfrm>
            <a:off x="7105334" y="5740295"/>
            <a:ext cx="18100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66</a:t>
            </a:r>
          </a:p>
          <a:p>
            <a:pPr algn="ctr"/>
            <a:r>
              <a:rPr lang="en-US" sz="1400" dirty="0" err="1">
                <a:solidFill>
                  <a:schemeClr val="bg1"/>
                </a:solidFill>
              </a:rPr>
              <a:t>Khoá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học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49B6685A-A6D9-8097-4CFB-6C7B2DFE0B6E}"/>
              </a:ext>
            </a:extLst>
          </p:cNvPr>
          <p:cNvSpPr txBox="1"/>
          <p:nvPr/>
        </p:nvSpPr>
        <p:spPr>
          <a:xfrm>
            <a:off x="8482315" y="5750787"/>
            <a:ext cx="18100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1,28B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Doanh </a:t>
            </a:r>
            <a:r>
              <a:rPr lang="en-US" sz="1400" dirty="0" err="1">
                <a:solidFill>
                  <a:schemeClr val="bg1"/>
                </a:solidFill>
              </a:rPr>
              <a:t>thu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DA7B73AD-FA10-681F-42C7-1E24F4DA3808}"/>
              </a:ext>
            </a:extLst>
          </p:cNvPr>
          <p:cNvSpPr txBox="1"/>
          <p:nvPr/>
        </p:nvSpPr>
        <p:spPr>
          <a:xfrm>
            <a:off x="9902826" y="5750787"/>
            <a:ext cx="18100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28%</a:t>
            </a:r>
          </a:p>
          <a:p>
            <a:pPr algn="ctr"/>
            <a:r>
              <a:rPr lang="en-US" sz="1400" dirty="0" err="1">
                <a:solidFill>
                  <a:schemeClr val="bg1"/>
                </a:solidFill>
              </a:rPr>
              <a:t>Tỷ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suất</a:t>
            </a:r>
            <a:r>
              <a:rPr lang="en-US" sz="1400" dirty="0">
                <a:solidFill>
                  <a:schemeClr val="bg1"/>
                </a:solidFill>
              </a:rPr>
              <a:t> LN</a:t>
            </a:r>
          </a:p>
        </p:txBody>
      </p:sp>
      <p:pic>
        <p:nvPicPr>
          <p:cNvPr id="113" name="Picture 112" descr="Mục tiêu tăng trưởng GDP năm 2026 đạt trên 10%: Yêu cầu và giải pháp thực  thi">
            <a:extLst>
              <a:ext uri="{FF2B5EF4-FFF2-40B4-BE49-F238E27FC236}">
                <a16:creationId xmlns:a16="http://schemas.microsoft.com/office/drawing/2014/main" id="{4A54EEA8-597B-CD17-8278-D4E397D5376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10000" b="90000" l="10000" r="90000">
                        <a14:foregroundMark x1="77500" y1="18000" x2="77500" y2="18000"/>
                        <a14:foregroundMark x1="17250" y1="61556" x2="17250" y2="61556"/>
                        <a14:foregroundMark x1="15417" y1="62000" x2="15417" y2="62000"/>
                        <a14:backgroundMark x1="83917" y1="31000" x2="86667" y2="7733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1296049">
            <a:off x="4871795" y="1518578"/>
            <a:ext cx="4513727" cy="33852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2047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86</Words>
  <Application>Microsoft Office PowerPoint</Application>
  <PresentationFormat>Widescreen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1.1 OPPO Sans VN Italic Bold</vt:lpstr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Hồ Anh Tuấn</dc:creator>
  <cp:lastModifiedBy>Hồ Anh Tuấn</cp:lastModifiedBy>
  <cp:revision>2</cp:revision>
  <dcterms:created xsi:type="dcterms:W3CDTF">2026-10-26T09:56:28Z</dcterms:created>
  <dcterms:modified xsi:type="dcterms:W3CDTF">2026-10-26T12:54:41Z</dcterms:modified>
</cp:coreProperties>
</file>